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-3376" r="-3376" t="0" b="0"/>
          <a:stretch/>
        </p:blipFill>
        <p:spPr>
          <a:xfrm>
            <a:off x="8128102" y="0"/>
            <a:ext cx="4067251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-27" r="-27" t="0" b="0"/>
          <a:stretch/>
        </p:blipFill>
        <p:spPr>
          <a:xfrm>
            <a:off x="9601200" y="4876495"/>
            <a:ext cx="1067105" cy="121889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612465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14400" y="6400800"/>
            <a:ext cx="2943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 • Internal Distribution Only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0299802" y="6362395"/>
            <a:ext cx="9198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GENSPARK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1114532" y="6362395"/>
            <a:ext cx="2715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14400" y="1033272"/>
            <a:ext cx="457200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3534156"/>
            <a:ext cx="1143000" cy="3840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485900" y="952805"/>
            <a:ext cx="2443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BUSINESS REVIEW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1485900"/>
            <a:ext cx="9277502" cy="177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Customer Shopping Behavior Analysis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4000500"/>
            <a:ext cx="51151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Brief — Comprehensive Data Insight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4371746"/>
            <a:ext cx="3363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Strategic Recommendations</a:t>
            </a:r>
            <a:endParaRPr lang="en-US" sz="1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990295" y="5609844"/>
            <a:ext cx="133502" cy="152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52398" y="5458054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352398" y="5676595"/>
            <a:ext cx="1443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December 2025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3346704" y="5609844"/>
            <a:ext cx="133502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708806" y="5458054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SCOPE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3708806" y="5676595"/>
            <a:ext cx="16907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Transactions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905" y="1524305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5" y="681228"/>
            <a:ext cx="304495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8700" y="609905"/>
            <a:ext cx="1571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61695"/>
            <a:ext cx="59152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Leaders Need to Know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442302" y="881482"/>
            <a:ext cx="42437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high-level synthesis of 3,900 customer transactions, identifying key revenue drivers and strategic opportunities.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990649"/>
            <a:ext cx="3457346" cy="4410151"/>
          </a:xfrm>
          <a:prstGeom prst="roundRect">
            <a:avLst>
              <a:gd name="adj" fmla="val 874"/>
            </a:avLst>
          </a:prstGeom>
          <a:noFill/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2305202"/>
            <a:ext cx="400507" cy="457200"/>
          </a:xfrm>
          <a:prstGeom prst="roundRect">
            <a:avLst>
              <a:gd name="adj" fmla="val 43488"/>
            </a:avLst>
          </a:prstGeom>
          <a:solidFill>
            <a:srgbClr val="1E3A8A">
              <a:alpha val="3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1037844" y="2424074"/>
            <a:ext cx="171907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38351" y="2381098"/>
            <a:ext cx="1324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 Scope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23544" y="2933395"/>
            <a:ext cx="16962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23544" y="3534156"/>
            <a:ext cx="25484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TRANSACTIONS ANALYZED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23544" y="4019702"/>
            <a:ext cx="529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" y="4401007"/>
            <a:ext cx="1153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ATTRIBUTES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413102" y="4019702"/>
            <a:ext cx="5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413102" y="4401007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RATINGS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23544" y="4858207"/>
            <a:ext cx="282915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23544" y="5029200"/>
            <a:ext cx="268193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"Robust dataset processed via Python &amp; SQL pipelines to ensure high-confidence insights."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69003" y="1990649"/>
            <a:ext cx="3457346" cy="4410151"/>
          </a:xfrm>
          <a:prstGeom prst="roundRect">
            <a:avLst>
              <a:gd name="adj" fmla="val 874"/>
            </a:avLst>
          </a:prstGeom>
          <a:noFill/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82642" y="2305202"/>
            <a:ext cx="418795" cy="457200"/>
          </a:xfrm>
          <a:prstGeom prst="roundRect">
            <a:avLst>
              <a:gd name="adj" fmla="val 39698"/>
            </a:avLst>
          </a:prstGeom>
          <a:solidFill>
            <a:srgbClr val="312E81">
              <a:alpha val="30000"/>
            </a:srgb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96942" y="2424074"/>
            <a:ext cx="190195" cy="19019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216652" y="2381098"/>
            <a:ext cx="1505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Analyses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4682642" y="3029407"/>
            <a:ext cx="133502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930445" y="3010205"/>
            <a:ext cx="2067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Demographics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930445" y="3228746"/>
            <a:ext cx="21479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 and age group spending patterns.</a:t>
            </a:r>
            <a:endParaRPr lang="en-US" sz="1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4682642" y="3829507"/>
            <a:ext cx="133502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930445" y="3810305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Impact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4930445" y="4028846"/>
            <a:ext cx="23582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lift of subscribers vs. non-subscribers.</a:t>
            </a:r>
            <a:endParaRPr lang="en-US" sz="10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4682642" y="4629607"/>
            <a:ext cx="133502" cy="152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930445" y="4610405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4930445" y="4828946"/>
            <a:ext cx="23006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Classified into New, Returning, and Loyal.</a:t>
            </a:r>
            <a:endParaRPr lang="en-US" sz="10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4682642" y="5429707"/>
            <a:ext cx="133502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930445" y="5410505"/>
            <a:ext cx="1448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Behavior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4930445" y="5629046"/>
            <a:ext cx="26535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high-spending discount users.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8128102" y="1990649"/>
            <a:ext cx="3457346" cy="4410151"/>
          </a:xfrm>
          <a:prstGeom prst="roundRect">
            <a:avLst>
              <a:gd name="adj" fmla="val 874"/>
            </a:avLst>
          </a:prstGeom>
          <a:noFill/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2655" y="2305202"/>
            <a:ext cx="418795" cy="457200"/>
          </a:xfrm>
          <a:prstGeom prst="roundRect">
            <a:avLst>
              <a:gd name="adj" fmla="val 39698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556955" y="2424074"/>
            <a:ext cx="190195" cy="19019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975750" y="2381098"/>
            <a:ext cx="2391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Strategic Imperatives</a:t>
            </a:r>
            <a:endParaRPr lang="en-US" sz="1800" dirty="0"/>
          </a:p>
        </p:txBody>
      </p:sp>
      <p:sp>
        <p:nvSpPr>
          <p:cNvPr id="40" name="Shape 31"/>
          <p:cNvSpPr/>
          <p:nvPr/>
        </p:nvSpPr>
        <p:spPr>
          <a:xfrm>
            <a:off x="8442655" y="2991002"/>
            <a:ext cx="2829154" cy="381305"/>
          </a:xfrm>
          <a:prstGeom prst="roundRect">
            <a:avLst>
              <a:gd name="adj" fmla="val 2398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Shape 32"/>
          <p:cNvSpPr/>
          <p:nvPr/>
        </p:nvSpPr>
        <p:spPr>
          <a:xfrm>
            <a:off x="8518550" y="3143707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60A5FA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8708746" y="3086100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Subscriptions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8442655" y="3524098"/>
            <a:ext cx="2829154" cy="381305"/>
          </a:xfrm>
          <a:prstGeom prst="roundRect">
            <a:avLst>
              <a:gd name="adj" fmla="val 2398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4" name="Shape 35"/>
          <p:cNvSpPr/>
          <p:nvPr/>
        </p:nvSpPr>
        <p:spPr>
          <a:xfrm>
            <a:off x="8518550" y="367680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60A5FA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8708746" y="3619195"/>
            <a:ext cx="2238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Loyalty Programs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8442655" y="4058107"/>
            <a:ext cx="2829154" cy="381305"/>
          </a:xfrm>
          <a:prstGeom prst="roundRect">
            <a:avLst>
              <a:gd name="adj" fmla="val 2398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7" name="Shape 38"/>
          <p:cNvSpPr/>
          <p:nvPr/>
        </p:nvSpPr>
        <p:spPr>
          <a:xfrm>
            <a:off x="8518550" y="420989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60A5FA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8708746" y="4153205"/>
            <a:ext cx="1752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Discount Policy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8442655" y="4591202"/>
            <a:ext cx="2829154" cy="381305"/>
          </a:xfrm>
          <a:prstGeom prst="roundRect">
            <a:avLst>
              <a:gd name="adj" fmla="val 2398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0" name="Shape 41"/>
          <p:cNvSpPr/>
          <p:nvPr/>
        </p:nvSpPr>
        <p:spPr>
          <a:xfrm>
            <a:off x="8518550" y="4743907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60A5FA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708746" y="4686300"/>
            <a:ext cx="1657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 Top Products</a:t>
            </a:r>
            <a:endParaRPr lang="en-US" sz="1200" dirty="0"/>
          </a:p>
        </p:txBody>
      </p:sp>
      <p:sp>
        <p:nvSpPr>
          <p:cNvPr id="52" name="Shape 43"/>
          <p:cNvSpPr/>
          <p:nvPr/>
        </p:nvSpPr>
        <p:spPr>
          <a:xfrm>
            <a:off x="8442655" y="5124298"/>
            <a:ext cx="2829154" cy="381305"/>
          </a:xfrm>
          <a:prstGeom prst="roundRect">
            <a:avLst>
              <a:gd name="adj" fmla="val 2398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3" name="Shape 44"/>
          <p:cNvSpPr/>
          <p:nvPr/>
        </p:nvSpPr>
        <p:spPr>
          <a:xfrm>
            <a:off x="8518550" y="527700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60A5FA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708746" y="5219395"/>
            <a:ext cx="2210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High-Value Segments</a:t>
            </a:r>
            <a:endParaRPr lang="en-US" sz="1200" dirty="0"/>
          </a:p>
        </p:txBody>
      </p:sp>
      <p:sp>
        <p:nvSpPr>
          <p:cNvPr id="55" name="Shape 46"/>
          <p:cNvSpPr/>
          <p:nvPr/>
        </p:nvSpPr>
        <p:spPr>
          <a:xfrm>
            <a:off x="8442655" y="5734202"/>
            <a:ext cx="28291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8442655" y="5924398"/>
            <a:ext cx="114300" cy="13350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632850" y="5896051"/>
            <a:ext cx="2138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Recommendations (Slide 8)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609905" y="6476695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11206886" y="6476695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2628"/>
            <a:ext cx="304495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5995" y="381305"/>
            <a:ext cx="1124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33095"/>
            <a:ext cx="665866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Business Context &amp; Framework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22108" y="652882"/>
            <a:ext cx="41202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analytical approach transforming raw transactional data into actionable strategic intelligence.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57554"/>
            <a:ext cx="1457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PIPELINE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86607"/>
            <a:ext cx="1610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DATA DIMENSIONS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752698"/>
            <a:ext cx="3610051" cy="53309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752698"/>
            <a:ext cx="28346" cy="5330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8251" y="3838651"/>
            <a:ext cx="1690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Demographics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3806647" y="3866998"/>
            <a:ext cx="142646" cy="114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38251" y="4058107"/>
            <a:ext cx="1295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Location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92194" y="3752698"/>
            <a:ext cx="3610051" cy="53309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292194" y="3752698"/>
            <a:ext cx="28346" cy="5330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73245" y="3838651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Details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7680046" y="3866998"/>
            <a:ext cx="105156" cy="1143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473245" y="4058107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Item, Amount, Size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128102" y="3752698"/>
            <a:ext cx="3610051" cy="53309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8128102" y="3752698"/>
            <a:ext cx="28346" cy="5330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309153" y="3838651"/>
            <a:ext cx="13478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Status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505895" y="3866998"/>
            <a:ext cx="114300" cy="1143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309153" y="4058107"/>
            <a:ext cx="1762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 vs. Non-Subscriber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4401007"/>
            <a:ext cx="3610051" cy="53309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457200" y="4401007"/>
            <a:ext cx="28346" cy="5330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38251" y="4486046"/>
            <a:ext cx="1310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Behavior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3864254" y="4515307"/>
            <a:ext cx="85954" cy="1143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8251" y="4705502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Discounts, Frequency, History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92194" y="4401007"/>
            <a:ext cx="3610051" cy="53309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4292194" y="4401007"/>
            <a:ext cx="28346" cy="5330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4473245" y="4486046"/>
            <a:ext cx="1472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Preferences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7642555" y="4515307"/>
            <a:ext cx="142646" cy="1143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473245" y="4705502"/>
            <a:ext cx="12289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vs. Express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8128102" y="4401007"/>
            <a:ext cx="3610051" cy="53309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8128102" y="4401007"/>
            <a:ext cx="28346" cy="5330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8309153" y="4486046"/>
            <a:ext cx="12152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Feedback</a:t>
            </a:r>
            <a:endParaRPr lang="en-US" sz="10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-1911" r="-1911" t="0" b="0"/>
          <a:stretch/>
        </p:blipFill>
        <p:spPr>
          <a:xfrm>
            <a:off x="11486693" y="4515307"/>
            <a:ext cx="133502" cy="1143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309153" y="4705502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Ratings (Imputed)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57200" y="5162702"/>
            <a:ext cx="11277295" cy="76169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</p:sp>
      <p:sp>
        <p:nvSpPr>
          <p:cNvPr id="41" name="Shape 33"/>
          <p:cNvSpPr/>
          <p:nvPr/>
        </p:nvSpPr>
        <p:spPr>
          <a:xfrm>
            <a:off x="457200" y="5162702"/>
            <a:ext cx="38405" cy="7616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647395" y="5315407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OBJECTIVE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647395" y="5524805"/>
            <a:ext cx="10406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"To decode complex spending patterns and translate behavioral data into targeted revenue growth and customer retention strategies."</a:t>
            </a:r>
            <a:endParaRPr lang="en-US" sz="13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>
            <a:alphaModFix amt="50000"/>
          </a:blip>
          <a:srcRect l="0" r="0" t="0" b="0"/>
          <a:stretch/>
        </p:blipFill>
        <p:spPr>
          <a:xfrm>
            <a:off x="11144707" y="5390388"/>
            <a:ext cx="286207" cy="286207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457200" y="6553505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11357762" y="6553505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3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457200" y="1723644"/>
            <a:ext cx="3610051" cy="1533449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2070202" y="1923898"/>
            <a:ext cx="381305" cy="381305"/>
          </a:xfrm>
          <a:prstGeom prst="roundRect">
            <a:avLst>
              <a:gd name="adj" fmla="val 239808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rcRect l="-760" r="-760" t="0" b="0"/>
          <a:stretch/>
        </p:blipFill>
        <p:spPr>
          <a:xfrm>
            <a:off x="2184502" y="2029054"/>
            <a:ext cx="152705" cy="171907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666951" y="2428646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666598" y="2704795"/>
            <a:ext cx="32772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null imputation, column standardization, and feature engineering (e.g., age binning) using Pandas.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4292194" y="1723644"/>
            <a:ext cx="3610051" cy="1533449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5905195" y="1923898"/>
            <a:ext cx="381305" cy="381305"/>
          </a:xfrm>
          <a:prstGeom prst="roundRect">
            <a:avLst>
              <a:gd name="adj" fmla="val 239808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rcRect l="-760" r="-760" t="0" b="0"/>
          <a:stretch/>
        </p:blipFill>
        <p:spPr>
          <a:xfrm>
            <a:off x="6019495" y="2029054"/>
            <a:ext cx="152705" cy="171907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5590642" y="2428646"/>
            <a:ext cx="1133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56" name="Text 45"/>
          <p:cNvSpPr txBox="1"/>
          <p:nvPr/>
        </p:nvSpPr>
        <p:spPr>
          <a:xfrm>
            <a:off x="4503420" y="2704795"/>
            <a:ext cx="32772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SQL queries in PostgreSQL to calculate revenue metrics, segmentation rules, and performance indicators.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8128102" y="1723644"/>
            <a:ext cx="3610051" cy="1533449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9741103" y="1923898"/>
            <a:ext cx="381305" cy="381305"/>
          </a:xfrm>
          <a:prstGeom prst="roundRect">
            <a:avLst>
              <a:gd name="adj" fmla="val 239808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845345" y="2029054"/>
            <a:ext cx="171907" cy="171907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9491472" y="2428646"/>
            <a:ext cx="1000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61" name="Text 49"/>
          <p:cNvSpPr txBox="1"/>
          <p:nvPr/>
        </p:nvSpPr>
        <p:spPr>
          <a:xfrm>
            <a:off x="8405165" y="2704795"/>
            <a:ext cx="3143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 creation to visualize trends across demographics, products, and subscription models.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28523"/>
            <a:ext cx="304495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5995" y="457200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INSIGHT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"/>
            <a:ext cx="4972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Revenue &amp; Customer Segments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623353" y="652882"/>
            <a:ext cx="42153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purchase power across demographics to identify high-value cohorts and growth pockets.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57554"/>
            <a:ext cx="7315200" cy="2400300"/>
          </a:xfrm>
          <a:prstGeom prst="roundRect">
            <a:avLst>
              <a:gd name="adj" fmla="val 181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049" y="1664208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8446" y="1647749"/>
            <a:ext cx="2395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Contribution by Age Group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578194" y="1657807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 (Thousands)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82" b="-282"/>
          <a:stretch/>
        </p:blipFill>
        <p:spPr>
          <a:xfrm>
            <a:off x="619049" y="1923898"/>
            <a:ext cx="6991502" cy="17721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4005072"/>
            <a:ext cx="7315200" cy="2400300"/>
          </a:xfrm>
          <a:prstGeom prst="roundRect">
            <a:avLst>
              <a:gd name="adj" fmla="val 181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837" r="-837" t="0" b="0"/>
          <a:stretch/>
        </p:blipFill>
        <p:spPr>
          <a:xfrm>
            <a:off x="619049" y="4212641"/>
            <a:ext cx="152705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7649" y="4196182"/>
            <a:ext cx="1757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Share by Gender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7153351" y="4205326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Split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82" b="-282"/>
          <a:stretch/>
        </p:blipFill>
        <p:spPr>
          <a:xfrm>
            <a:off x="619049" y="4472330"/>
            <a:ext cx="3495751" cy="17721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19295" y="4669841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DRIVER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4419295" y="4821631"/>
            <a:ext cx="1343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Female 12%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4419295" y="5127041"/>
            <a:ext cx="1714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Avg. Transaction Value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419295" y="5431536"/>
            <a:ext cx="13240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DRIVER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4419295" y="5584241"/>
            <a:ext cx="6766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Male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4419295" y="5888736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Frequency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076895" y="1457554"/>
            <a:ext cx="3657600" cy="2361895"/>
          </a:xfrm>
          <a:prstGeom prst="roundRect">
            <a:avLst>
              <a:gd name="adj" fmla="val 124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77149" y="1676095"/>
            <a:ext cx="1681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391449" y="2048256"/>
            <a:ext cx="1271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(High Value)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8391449" y="2247595"/>
            <a:ext cx="31821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with 5+ purchases. Highest recurring revenue potential.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8391449" y="2676449"/>
            <a:ext cx="7287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Returning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8391449" y="2876702"/>
            <a:ext cx="2905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2-4 purchases. Critical target for loyalty conversion.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8391449" y="3209544"/>
            <a:ext cx="3959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8391449" y="3409798"/>
            <a:ext cx="2829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First-time buyers. Focus on onboarding incentives.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8076895" y="3972154"/>
            <a:ext cx="3657600" cy="2428646"/>
          </a:xfrm>
          <a:prstGeom prst="roundRect">
            <a:avLst>
              <a:gd name="adj" fmla="val 1181"/>
            </a:avLst>
          </a:prstGeom>
          <a:solidFill>
            <a:srgbClr val="1E293B"/>
          </a:solidFill>
          <a:ln/>
        </p:spPr>
      </p:sp>
      <p:sp>
        <p:nvSpPr>
          <p:cNvPr id="34" name="Shape 28"/>
          <p:cNvSpPr/>
          <p:nvPr/>
        </p:nvSpPr>
        <p:spPr>
          <a:xfrm>
            <a:off x="8076895" y="3972154"/>
            <a:ext cx="38405" cy="242864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>
            <a:alphaModFix amt="10000"/>
          </a:blip>
          <a:srcRect l="-13" r="-13" t="0" b="0"/>
          <a:stretch/>
        </p:blipFill>
        <p:spPr>
          <a:xfrm>
            <a:off x="10972800" y="3819449"/>
            <a:ext cx="914400" cy="12188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305495" y="4162349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TAKEAWAY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8305495" y="4410151"/>
            <a:ext cx="3286354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"The 26-45 age demographic generates the majority of revenue. Marketing spend should prioritize this cohort with 'Returning' segment incentives."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8305495" y="5934456"/>
            <a:ext cx="3238805" cy="9144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05495" y="6077102"/>
            <a:ext cx="114300" cy="1143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496605" y="6057900"/>
            <a:ext cx="1895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 Tailor lifecycle messaging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457200" y="6553505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1355019" y="6553505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90295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75818"/>
            <a:ext cx="304495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5995" y="304495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INSIGHT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"/>
            <a:ext cx="4305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Subscription Model Impact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787030" y="461772"/>
            <a:ext cx="40535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Quantifying the financial leverage of the subscription base and identifying conversion pathways.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228954"/>
            <a:ext cx="5524805" cy="2590495"/>
          </a:xfrm>
          <a:prstGeom prst="roundRect">
            <a:avLst>
              <a:gd name="adj" fmla="val 1557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7454" y="1438351"/>
            <a:ext cx="2110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Spend per Transaction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7454" y="1638605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Comparing basket value efficiency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92294" y="1429207"/>
            <a:ext cx="694944" cy="228600"/>
          </a:xfrm>
          <a:prstGeom prst="roundRect">
            <a:avLst>
              <a:gd name="adj" fmla="val 66667"/>
            </a:avLst>
          </a:prstGeom>
          <a:solidFill>
            <a:srgbClr val="1E3A8A">
              <a:alpha val="3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68189" y="1466698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+28% Lift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83" b="-283"/>
          <a:stretch/>
        </p:blipFill>
        <p:spPr>
          <a:xfrm>
            <a:off x="657454" y="1867205"/>
            <a:ext cx="5124298" cy="175290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3967582"/>
            <a:ext cx="5524805" cy="2590495"/>
          </a:xfrm>
          <a:prstGeom prst="roundRect">
            <a:avLst>
              <a:gd name="adj" fmla="val 1557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7454" y="4176979"/>
            <a:ext cx="2005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Contribution Density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46" b="-246"/>
          <a:stretch/>
        </p:blipFill>
        <p:spPr>
          <a:xfrm>
            <a:off x="657454" y="4433926"/>
            <a:ext cx="2562149" cy="192389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372307" y="4917643"/>
            <a:ext cx="19202" cy="41879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504895" y="4917643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 Base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3504895" y="5098694"/>
            <a:ext cx="12627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22% of Users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372307" y="5450738"/>
            <a:ext cx="19202" cy="4187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3504895" y="5450738"/>
            <a:ext cx="9052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504895" y="5631790"/>
            <a:ext cx="15389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 of Total Rev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210605" y="1228954"/>
            <a:ext cx="2686507" cy="1561795"/>
          </a:xfrm>
          <a:prstGeom prst="roundRect">
            <a:avLst>
              <a:gd name="adj" fmla="val 428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72454" y="1447495"/>
            <a:ext cx="114300" cy="1143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562649" y="1410005"/>
            <a:ext cx="1953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CORRELATION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372454" y="1657807"/>
            <a:ext cx="571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3.5x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372454" y="2009851"/>
            <a:ext cx="227685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with &gt;5 purchases are 3.5x more likely to subscribe.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048902" y="1228954"/>
            <a:ext cx="2686507" cy="1561795"/>
          </a:xfrm>
          <a:prstGeom prst="roundRect">
            <a:avLst>
              <a:gd name="adj" fmla="val 428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3120" r="-3120" t="0" b="0"/>
          <a:stretch/>
        </p:blipFill>
        <p:spPr>
          <a:xfrm>
            <a:off x="9210751" y="1447495"/>
            <a:ext cx="75895" cy="1143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363456" y="1410005"/>
            <a:ext cx="1114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CLV IMPACT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9210751" y="1657807"/>
            <a:ext cx="810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$450+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9210751" y="2009851"/>
            <a:ext cx="24003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additional annual value per converted subscriber.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210605" y="2943454"/>
            <a:ext cx="5524805" cy="1752905"/>
          </a:xfrm>
          <a:prstGeom prst="roundRect">
            <a:avLst>
              <a:gd name="adj" fmla="val 3402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409944" y="3161995"/>
            <a:ext cx="2462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"Loyalty Gap" Opportunity</a:t>
            </a:r>
            <a:endParaRPr lang="en-US" sz="13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6472123" y="3600907"/>
            <a:ext cx="142646" cy="1143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791249" y="3504895"/>
            <a:ext cx="47530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reveals a critical threshold at 5 purchases. Users crossing this mark transition from "transactional" to "relational" behavior. Currently, only 15% of eligible repeat buyers are being targeted.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6791249" y="4138574"/>
            <a:ext cx="4705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not only spend more per order ($112 vs $84) but show significantly lower churn rates, stabilizing monthly revenue predictability.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210605" y="4843577"/>
            <a:ext cx="5524805" cy="1714500"/>
          </a:xfrm>
          <a:prstGeom prst="roundRect">
            <a:avLst>
              <a:gd name="adj" fmla="val 3556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9944" y="5147158"/>
            <a:ext cx="2886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6409944" y="5451653"/>
            <a:ext cx="502462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"Implement an automated 'Loyalty Bridge' campaign: Trigger exclusive subscription offers immediately after a customer's 4th purchase to capture high-intent users."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457200" y="6534302"/>
            <a:ext cx="2867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1236147" y="6534302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533095" y="1105510"/>
            <a:ext cx="111255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33095" y="452628"/>
            <a:ext cx="304495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52805" y="381305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INSIGHT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33095" y="571500"/>
            <a:ext cx="5048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Product &amp; Discount Intelligence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881214" y="576072"/>
            <a:ext cx="38816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inventory and pricing strategies by analyzing top performers and discount sensitivity.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3095" y="1266444"/>
            <a:ext cx="3562502" cy="3581705"/>
          </a:xfrm>
          <a:prstGeom prst="roundRect">
            <a:avLst>
              <a:gd name="adj" fmla="val 82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3349" y="1848002"/>
            <a:ext cx="31619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3349" y="14666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00100" y="1543507"/>
            <a:ext cx="171907" cy="152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52144" y="1505102"/>
            <a:ext cx="177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Top 5 Rated Products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52" r="-152" t="0" b="0"/>
          <a:stretch/>
        </p:blipFill>
        <p:spPr>
          <a:xfrm>
            <a:off x="733349" y="1933956"/>
            <a:ext cx="3161995" cy="270479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3095" y="5029200"/>
            <a:ext cx="3562502" cy="1295705"/>
          </a:xfrm>
          <a:prstGeom prst="roundRect">
            <a:avLst>
              <a:gd name="adj" fmla="val 6227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733349" y="5248656"/>
            <a:ext cx="171907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19556" y="5239512"/>
            <a:ext cx="14813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Best Sellers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3349" y="5534863"/>
            <a:ext cx="1505102" cy="590702"/>
          </a:xfrm>
          <a:prstGeom prst="roundRect">
            <a:avLst>
              <a:gd name="adj" fmla="val 998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57707" y="5658307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857707" y="5820156"/>
            <a:ext cx="13194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Winter Coat, Jeans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387498" y="5534863"/>
            <a:ext cx="1505102" cy="590702"/>
          </a:xfrm>
          <a:prstGeom prst="roundRect">
            <a:avLst>
              <a:gd name="adj" fmla="val 998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510942" y="5658307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2510942" y="5820156"/>
            <a:ext cx="12911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Leather Bag, Scarf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317797" y="1266444"/>
            <a:ext cx="3562502" cy="1981505"/>
          </a:xfrm>
          <a:prstGeom prst="roundRect">
            <a:avLst>
              <a:gd name="adj" fmla="val 2662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518050" y="1466698"/>
            <a:ext cx="1438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SPOTLIGHT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4518050" y="1657807"/>
            <a:ext cx="27916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High-Spending Discount Users</a:t>
            </a:r>
            <a:endParaRPr lang="en-US" sz="15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83450" y="1466698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18050" y="2057400"/>
            <a:ext cx="318668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unique cohort (18% of users) actively seeks discounts but maintains an AOV 22% higher than the average shopper.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18050" y="2802636"/>
            <a:ext cx="3161995" cy="9144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4518050" y="2907792"/>
            <a:ext cx="105156" cy="1143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699102" y="2888590"/>
            <a:ext cx="18580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 Target with bundle offers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317797" y="3431743"/>
            <a:ext cx="3562502" cy="2895905"/>
          </a:xfrm>
          <a:prstGeom prst="roundRect">
            <a:avLst>
              <a:gd name="adj" fmla="val 1246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18050" y="4202582"/>
            <a:ext cx="31619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4" name="Shape 27"/>
          <p:cNvSpPr/>
          <p:nvPr/>
        </p:nvSpPr>
        <p:spPr>
          <a:xfrm>
            <a:off x="4518050" y="3631082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4613148" y="3707892"/>
            <a:ext cx="114300" cy="152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936846" y="3669487"/>
            <a:ext cx="1834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Discount Dependency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4518050" y="3973982"/>
            <a:ext cx="2410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with highest % of sales on promo</a:t>
            </a:r>
            <a:endParaRPr lang="en-US" sz="9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3" b="-103"/>
          <a:stretch/>
        </p:blipFill>
        <p:spPr>
          <a:xfrm>
            <a:off x="4518050" y="4288536"/>
            <a:ext cx="3161995" cy="1837944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8102498" y="1266444"/>
            <a:ext cx="3562502" cy="3019349"/>
          </a:xfrm>
          <a:prstGeom prst="roundRect">
            <a:avLst>
              <a:gd name="adj" fmla="val 1146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8302752" y="1848002"/>
            <a:ext cx="31619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1" name="Shape 32"/>
          <p:cNvSpPr/>
          <p:nvPr/>
        </p:nvSpPr>
        <p:spPr>
          <a:xfrm>
            <a:off x="8302752" y="14666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8359445" y="1543507"/>
            <a:ext cx="19019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721547" y="1505102"/>
            <a:ext cx="1414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Shipping Impact</a:t>
            </a:r>
            <a:endParaRPr lang="en-US" sz="13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-136" r="-136" t="0" b="0"/>
          <a:stretch/>
        </p:blipFill>
        <p:spPr>
          <a:xfrm>
            <a:off x="8302752" y="1933956"/>
            <a:ext cx="3161995" cy="1524305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8302752" y="3571646"/>
            <a:ext cx="3161995" cy="514807"/>
          </a:xfrm>
          <a:prstGeom prst="roundRect">
            <a:avLst>
              <a:gd name="adj" fmla="val 1315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9699955" y="3657600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8574329" y="3819449"/>
            <a:ext cx="2719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users spend $28 more per order.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8102498" y="4476902"/>
            <a:ext cx="3562502" cy="1857146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8302752" y="4677156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33" r="-33" t="0" b="0"/>
          <a:stretch/>
        </p:blipFill>
        <p:spPr>
          <a:xfrm>
            <a:off x="8369503" y="4753051"/>
            <a:ext cx="171907" cy="15270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8721547" y="4714646"/>
            <a:ext cx="1167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Category Mix</a:t>
            </a:r>
            <a:endParaRPr lang="en-US" sz="1300" dirty="0"/>
          </a:p>
        </p:txBody>
      </p:sp>
      <p:sp>
        <p:nvSpPr>
          <p:cNvPr id="52" name="Shape 40"/>
          <p:cNvSpPr/>
          <p:nvPr/>
        </p:nvSpPr>
        <p:spPr>
          <a:xfrm>
            <a:off x="8302752" y="5362956"/>
            <a:ext cx="31619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41"/>
          <p:cNvSpPr txBox="1"/>
          <p:nvPr/>
        </p:nvSpPr>
        <p:spPr>
          <a:xfrm>
            <a:off x="8302752" y="5105095"/>
            <a:ext cx="691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</a:t>
            </a:r>
            <a:endParaRPr lang="en-US" sz="1000" dirty="0"/>
          </a:p>
        </p:txBody>
      </p:sp>
      <p:sp>
        <p:nvSpPr>
          <p:cNvPr id="54" name="Text 42"/>
          <p:cNvSpPr txBox="1"/>
          <p:nvPr/>
        </p:nvSpPr>
        <p:spPr>
          <a:xfrm>
            <a:off x="10089490" y="5115154"/>
            <a:ext cx="1457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Boots, Sneakers, Sandals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8302752" y="5715000"/>
            <a:ext cx="31619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44"/>
          <p:cNvSpPr txBox="1"/>
          <p:nvPr/>
        </p:nvSpPr>
        <p:spPr>
          <a:xfrm>
            <a:off x="8302752" y="5458054"/>
            <a:ext cx="7671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10405872" y="5467198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Coat, Jacket, Parka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8302752" y="5810098"/>
            <a:ext cx="881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59" name="Text 47"/>
          <p:cNvSpPr txBox="1"/>
          <p:nvPr/>
        </p:nvSpPr>
        <p:spPr>
          <a:xfrm>
            <a:off x="10565892" y="5820156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Belt, Hat, Gloves</a:t>
            </a:r>
            <a:endParaRPr lang="en-US" sz="900" dirty="0"/>
          </a:p>
        </p:txBody>
      </p:sp>
      <p:sp>
        <p:nvSpPr>
          <p:cNvPr id="60" name="Text 48"/>
          <p:cNvSpPr txBox="1"/>
          <p:nvPr/>
        </p:nvSpPr>
        <p:spPr>
          <a:xfrm>
            <a:off x="533095" y="6553505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61" name="Text 49"/>
          <p:cNvSpPr txBox="1"/>
          <p:nvPr/>
        </p:nvSpPr>
        <p:spPr>
          <a:xfrm>
            <a:off x="11281867" y="6553505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381305" y="1029614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81305" y="452628"/>
            <a:ext cx="304495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381305"/>
            <a:ext cx="1552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OVERVIEW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552298"/>
            <a:ext cx="29864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Financial Implications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555687" y="500177"/>
            <a:ext cx="43580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revenue quality, margin drivers, and basket economics to optimize the bottom line.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1305" y="1266444"/>
            <a:ext cx="3657600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" y="1447495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REVENUE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1695298"/>
            <a:ext cx="5815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38%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34156" y="1429207"/>
            <a:ext cx="342900" cy="3429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8398" y="1533449"/>
            <a:ext cx="133502" cy="13350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71500" y="2057400"/>
            <a:ext cx="2362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 from subscribers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67505" y="1266444"/>
            <a:ext cx="3657600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57700" y="1447495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COHORT CONC.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57700" y="1695298"/>
            <a:ext cx="5907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62%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420356" y="1429207"/>
            <a:ext cx="342900" cy="342900"/>
          </a:xfrm>
          <a:prstGeom prst="ellipse">
            <a:avLst/>
          </a:prstGeom>
          <a:solidFill>
            <a:srgbClr val="312E8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505395" y="1533449"/>
            <a:ext cx="171907" cy="13350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457700" y="2057400"/>
            <a:ext cx="2410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from Age 26-45 group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53705" y="1266444"/>
            <a:ext cx="3657600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343900" y="1447495"/>
            <a:ext cx="1686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PREMIUM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343900" y="1695298"/>
            <a:ext cx="6858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+$28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1306556" y="1429207"/>
            <a:ext cx="342900" cy="342900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1391595" y="1533449"/>
            <a:ext cx="171907" cy="13350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43900" y="2057400"/>
            <a:ext cx="2305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AOV on express orders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81305" y="2581351"/>
            <a:ext cx="7563002" cy="3847795"/>
          </a:xfrm>
          <a:prstGeom prst="roundRect">
            <a:avLst>
              <a:gd name="adj" fmla="val 706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80644" y="2790749"/>
            <a:ext cx="23527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Revenue Composition by Cohort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661965" y="2857500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5814670" y="2800807"/>
            <a:ext cx="1028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025335" y="2800807"/>
            <a:ext cx="829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-64" r="-64" t="0" b="0"/>
          <a:stretch/>
        </p:blipFill>
        <p:spPr>
          <a:xfrm>
            <a:off x="580644" y="3086100"/>
            <a:ext cx="7162495" cy="240030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580644" y="5600700"/>
            <a:ext cx="7162495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6598" y="5838444"/>
            <a:ext cx="152705" cy="152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95198" y="5686654"/>
            <a:ext cx="6877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 The 26-35 and 36-45 age groups not only drive volume but have the highest subscription penetration density, representing the most stable revenue streams.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128102" y="2581351"/>
            <a:ext cx="3685946" cy="1923898"/>
          </a:xfrm>
          <a:prstGeom prst="roundRect">
            <a:avLst>
              <a:gd name="adj" fmla="val 2823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89950" y="2781605"/>
            <a:ext cx="114300" cy="1143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480146" y="2752344"/>
            <a:ext cx="1424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Risk Analysis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8289950" y="3066898"/>
            <a:ext cx="2352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High-Spending Discount Users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10912450" y="3066898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$108 AOV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8289950" y="3314700"/>
            <a:ext cx="3029407" cy="57607"/>
          </a:xfrm>
          <a:prstGeom prst="roundRect">
            <a:avLst>
              <a:gd name="adj" fmla="val 1587307"/>
            </a:avLst>
          </a:prstGeom>
          <a:solidFill>
            <a:srgbClr val="10B981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8289950" y="3429000"/>
            <a:ext cx="2619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volume offsets margin % loss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8289950" y="3771900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Discount Users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11016691" y="3771900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 AOV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8289950" y="4134002"/>
            <a:ext cx="2315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dilutive without volume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8128102" y="4657954"/>
            <a:ext cx="3685946" cy="1772107"/>
          </a:xfrm>
          <a:prstGeom prst="roundRect">
            <a:avLst>
              <a:gd name="adj" fmla="val 3329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-1911" r="-1911" t="0" b="0"/>
          <a:stretch/>
        </p:blipFill>
        <p:spPr>
          <a:xfrm>
            <a:off x="8289950" y="4858207"/>
            <a:ext cx="133502" cy="11430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8499348" y="4828946"/>
            <a:ext cx="1271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Basket Economics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8365846" y="5105095"/>
            <a:ext cx="943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12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rcRect l="-760" r="-760" t="0" b="0"/>
          <a:stretch/>
        </p:blipFill>
        <p:spPr>
          <a:xfrm>
            <a:off x="9955073" y="5431536"/>
            <a:ext cx="152705" cy="171907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10876788" y="5105095"/>
            <a:ext cx="819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10958170" y="5352898"/>
            <a:ext cx="533095" cy="609905"/>
          </a:xfrm>
          <a:prstGeom prst="roundRect">
            <a:avLst>
              <a:gd name="adj" fmla="val 12252"/>
            </a:avLst>
          </a:prstGeom>
          <a:solidFill>
            <a:srgbClr val="064E3B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8353044" y="6057900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users buy 1.5x more items per order.</a:t>
            </a:r>
            <a:endParaRPr lang="en-US" sz="1200" dirty="0"/>
          </a:p>
        </p:txBody>
      </p:sp>
      <p:sp>
        <p:nvSpPr>
          <p:cNvPr id="54" name="Text 44"/>
          <p:cNvSpPr txBox="1"/>
          <p:nvPr/>
        </p:nvSpPr>
        <p:spPr>
          <a:xfrm>
            <a:off x="381305" y="6495898"/>
            <a:ext cx="2867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11316614" y="6495898"/>
            <a:ext cx="609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7</a:t>
            </a:r>
            <a:endParaRPr lang="en-US" sz="1200" dirty="0"/>
          </a:p>
        </p:txBody>
      </p:sp>
      <p:sp>
        <p:nvSpPr>
          <p:cNvPr id="56" name="Text 46"/>
          <p:cNvSpPr txBox="1"/>
          <p:nvPr/>
        </p:nvSpPr>
        <p:spPr>
          <a:xfrm>
            <a:off x="8665769" y="5734202"/>
            <a:ext cx="314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$92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11088014" y="5724144"/>
            <a:ext cx="362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5" y="1029614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452628"/>
            <a:ext cx="304495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381305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552298"/>
            <a:ext cx="37197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839151" y="500177"/>
            <a:ext cx="38441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prioritized initiatives to drive revenue quality, customer retention, and operational efficiency.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9905" y="1266444"/>
            <a:ext cx="10972800" cy="1067105"/>
          </a:xfrm>
          <a:prstGeom prst="roundRect">
            <a:avLst>
              <a:gd name="adj" fmla="val 612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1405" y="1647749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2726" y="1647749"/>
            <a:ext cx="4096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04849" y="16093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>
              <a:alpha val="20000"/>
            </a:srgb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29207" y="1733702"/>
            <a:ext cx="133502" cy="13350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837944" y="1616659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Subscriptions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837944" y="1845259"/>
            <a:ext cx="7420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(e.g., early access, free express shipping) to convert high-frequency buyers into recurring revenue streams.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137953" y="14100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049256" y="1657807"/>
            <a:ext cx="1410005" cy="552298"/>
          </a:xfrm>
          <a:prstGeom prst="roundRect">
            <a:avLst>
              <a:gd name="adj" fmla="val 16556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134295" y="1904695"/>
            <a:ext cx="47549" cy="57607"/>
          </a:xfrm>
          <a:prstGeom prst="roundRect">
            <a:avLst>
              <a:gd name="adj" fmla="val 1923069"/>
            </a:avLst>
          </a:prstGeom>
          <a:solidFill>
            <a:srgbClr val="3B82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238537" y="1723644"/>
            <a:ext cx="8293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Revenue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9905" y="2416759"/>
            <a:ext cx="10972800" cy="1067105"/>
          </a:xfrm>
          <a:prstGeom prst="roundRect">
            <a:avLst>
              <a:gd name="adj" fmla="val 612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1405" y="2798064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66267" y="2798064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04849" y="275965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312E81">
              <a:alpha val="20000"/>
            </a:srgbClr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1410005" y="2884018"/>
            <a:ext cx="171907" cy="13350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837944" y="2766974"/>
            <a:ext cx="2171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Loyalty Programs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837944" y="2995574"/>
            <a:ext cx="7029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 tiered rewards system targeting "Returning" customers (2-4 purchases) to transition them into the "Loyal" segment.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137953" y="2559406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10049256" y="2807208"/>
            <a:ext cx="1410005" cy="552298"/>
          </a:xfrm>
          <a:prstGeom prst="roundRect">
            <a:avLst>
              <a:gd name="adj" fmla="val 16556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134295" y="3055010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6366F1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10246766" y="2873959"/>
            <a:ext cx="952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&amp; CLV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09905" y="3567074"/>
            <a:ext cx="10972800" cy="838505"/>
          </a:xfrm>
          <a:prstGeom prst="roundRect">
            <a:avLst>
              <a:gd name="adj" fmla="val 991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81405" y="3834079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70839" y="3834079"/>
            <a:ext cx="438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1442923" y="3919118"/>
            <a:ext cx="105156" cy="13350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837944" y="3802990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Discount Policy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1837944" y="4031590"/>
            <a:ext cx="6762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blanket discounts on low-margin items. Shift strategy to bundle offers to balance sales lift with strict margin control.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0137953" y="3709721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10231222" y="3957523"/>
            <a:ext cx="1228954" cy="323698"/>
          </a:xfrm>
          <a:prstGeom prst="roundRect">
            <a:avLst>
              <a:gd name="adj" fmla="val 28248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431475" y="4024274"/>
            <a:ext cx="1057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09905" y="4488790"/>
            <a:ext cx="10972800" cy="1067105"/>
          </a:xfrm>
          <a:prstGeom prst="roundRect">
            <a:avLst>
              <a:gd name="adj" fmla="val 612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181405" y="4870094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767182" y="4870094"/>
            <a:ext cx="438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1419149" y="4955134"/>
            <a:ext cx="152705" cy="133502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1837944" y="4839005"/>
            <a:ext cx="1562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Positioning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1837944" y="5067605"/>
            <a:ext cx="6753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Spotlight top-rated items (4.5+ stars) and best-sellers in homepage inventory to reduce friction and boost conversion rates.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10137953" y="4631436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10049256" y="4879238"/>
            <a:ext cx="1410005" cy="552298"/>
          </a:xfrm>
          <a:prstGeom prst="roundRect">
            <a:avLst>
              <a:gd name="adj" fmla="val 16556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10245852" y="4945990"/>
            <a:ext cx="952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609905" y="5639105"/>
            <a:ext cx="10972800" cy="838505"/>
          </a:xfrm>
          <a:prstGeom prst="roundRect">
            <a:avLst>
              <a:gd name="adj" fmla="val 991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181405" y="5905195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773582" y="5905195"/>
            <a:ext cx="4288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800" dirty="0"/>
          </a:p>
        </p:txBody>
      </p:sp>
      <p:sp>
        <p:nvSpPr>
          <p:cNvPr id="52" name="Shape 46"/>
          <p:cNvSpPr/>
          <p:nvPr/>
        </p:nvSpPr>
        <p:spPr>
          <a:xfrm>
            <a:off x="1304849" y="58677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4C1D95">
              <a:alpha val="20000"/>
            </a:srgbClr>
          </a:solidFill>
          <a:ln/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429207" y="5991149"/>
            <a:ext cx="133502" cy="133502"/>
          </a:xfrm>
          <a:prstGeom prst="rect">
            <a:avLst/>
          </a:prstGeom>
        </p:spPr>
      </p:pic>
      <p:sp>
        <p:nvSpPr>
          <p:cNvPr id="54" name="Text 47"/>
          <p:cNvSpPr txBox="1"/>
          <p:nvPr/>
        </p:nvSpPr>
        <p:spPr>
          <a:xfrm>
            <a:off x="1837944" y="5874106"/>
            <a:ext cx="1562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Marketing</a:t>
            </a:r>
            <a:endParaRPr lang="en-US" sz="1200" dirty="0"/>
          </a:p>
        </p:txBody>
      </p:sp>
      <p:sp>
        <p:nvSpPr>
          <p:cNvPr id="55" name="Text 48"/>
          <p:cNvSpPr txBox="1"/>
          <p:nvPr/>
        </p:nvSpPr>
        <p:spPr>
          <a:xfrm>
            <a:off x="1837944" y="6102706"/>
            <a:ext cx="6753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ad spend on high-revenue age groups (26-45) and Express Shipping users to maximize Return on Ad Spend (ROAS).</a:t>
            </a:r>
            <a:endParaRPr lang="en-US" sz="900" dirty="0"/>
          </a:p>
        </p:txBody>
      </p:sp>
      <p:sp>
        <p:nvSpPr>
          <p:cNvPr id="56" name="Text 49"/>
          <p:cNvSpPr txBox="1"/>
          <p:nvPr/>
        </p:nvSpPr>
        <p:spPr>
          <a:xfrm>
            <a:off x="10137953" y="5781751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57" name="Shape 50"/>
          <p:cNvSpPr/>
          <p:nvPr/>
        </p:nvSpPr>
        <p:spPr>
          <a:xfrm>
            <a:off x="10140696" y="6029554"/>
            <a:ext cx="1324051" cy="323698"/>
          </a:xfrm>
          <a:prstGeom prst="roundRect">
            <a:avLst>
              <a:gd name="adj" fmla="val 28248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10225735" y="616305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8B5CF6"/>
          </a:solidFill>
          <a:ln/>
        </p:spPr>
      </p:sp>
      <p:sp>
        <p:nvSpPr>
          <p:cNvPr id="59" name="Text 52"/>
          <p:cNvSpPr txBox="1"/>
          <p:nvPr/>
        </p:nvSpPr>
        <p:spPr>
          <a:xfrm>
            <a:off x="10340035" y="6096305"/>
            <a:ext cx="1153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ROI</a:t>
            </a:r>
            <a:endParaRPr lang="en-US" sz="1200" dirty="0"/>
          </a:p>
        </p:txBody>
      </p:sp>
      <p:sp>
        <p:nvSpPr>
          <p:cNvPr id="60" name="Text 53"/>
          <p:cNvSpPr txBox="1"/>
          <p:nvPr/>
        </p:nvSpPr>
        <p:spPr>
          <a:xfrm>
            <a:off x="609905" y="6553505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11205972" y="6553505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5" y="1372514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681228"/>
            <a:ext cx="304495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609905"/>
            <a:ext cx="1648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EXECUTION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800100"/>
            <a:ext cx="5353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90-Day Implementation Roadmap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559345" y="804672"/>
            <a:ext cx="41294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phased approach to operationalize insights, launch pilots, and scale revenue-generating initiatives.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9905" y="2066544"/>
            <a:ext cx="10972800" cy="192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18895" y="2409444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ONE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619902" y="2409444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TWO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056571" y="2409444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THREE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9905" y="2866644"/>
            <a:ext cx="3457346" cy="3638398"/>
          </a:xfrm>
          <a:prstGeom prst="roundRect">
            <a:avLst>
              <a:gd name="adj" fmla="val 87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7649" y="3105302"/>
            <a:ext cx="18864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Foundation &amp; Setup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11119" y="3105302"/>
            <a:ext cx="819302" cy="228600"/>
          </a:xfrm>
          <a:prstGeom prst="roundRect">
            <a:avLst>
              <a:gd name="adj" fmla="val 400000"/>
            </a:avLst>
          </a:prstGeom>
          <a:solidFill>
            <a:srgbClr val="1E3A8A">
              <a:alpha val="3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25419" y="3143707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0–30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47649" y="3457346"/>
            <a:ext cx="25100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baselines and infrastructure.</a:t>
            </a:r>
            <a:endParaRPr lang="en-US" sz="10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-2571" r="-2571" t="0" b="0"/>
          <a:stretch/>
        </p:blipFill>
        <p:spPr>
          <a:xfrm>
            <a:off x="847649" y="3905402"/>
            <a:ext cx="105156" cy="1143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67105" y="3877056"/>
            <a:ext cx="28437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KPIs: Confirm success metrics (Sub conversion rate, Repeat purchase velocity).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847649" y="4424782"/>
            <a:ext cx="105156" cy="1143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67105" y="4395521"/>
            <a:ext cx="28529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Segments: Tag 'New', 'Returning', and 'Loyal' users in CRM based on SQL logic.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847649" y="4943246"/>
            <a:ext cx="105156" cy="1143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67105" y="4914900"/>
            <a:ext cx="26910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Offers: Structure 'Loyalty Bridge' incentives and A/B test groups.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47649" y="5683910"/>
            <a:ext cx="2980944" cy="9144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47649" y="5845759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DELIVERABLE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47649" y="6102706"/>
            <a:ext cx="114300" cy="13350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37844" y="6084418"/>
            <a:ext cx="17958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Segmented User Database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69003" y="2866644"/>
            <a:ext cx="3457346" cy="3638398"/>
          </a:xfrm>
          <a:prstGeom prst="roundRect">
            <a:avLst>
              <a:gd name="adj" fmla="val 87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606747" y="3105302"/>
            <a:ext cx="1914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Launch &amp; Activation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6697066" y="3105302"/>
            <a:ext cx="895198" cy="228600"/>
          </a:xfrm>
          <a:prstGeom prst="roundRect">
            <a:avLst>
              <a:gd name="adj" fmla="val 400000"/>
            </a:avLst>
          </a:prstGeom>
          <a:solidFill>
            <a:srgbClr val="312E81">
              <a:alpha val="30000"/>
            </a:srgbClr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6811366" y="3143707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30–60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4606747" y="3457346"/>
            <a:ext cx="25575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pilots and market-facing tests.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4606747" y="3905402"/>
            <a:ext cx="105156" cy="1143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826203" y="3877056"/>
            <a:ext cx="28529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Campaigns: Deploy targeted email/SMS flows to high-value age cohorts.</a:t>
            </a:r>
            <a:endParaRPr lang="en-US" sz="10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4606747" y="4424782"/>
            <a:ext cx="105156" cy="1143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826203" y="4395521"/>
            <a:ext cx="24432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Pilots: Activate subscription triggers for 4th-purchase customers.</a:t>
            </a:r>
            <a:endParaRPr lang="en-US" sz="10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4606747" y="4943246"/>
            <a:ext cx="105156" cy="1143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826203" y="4914900"/>
            <a:ext cx="268193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Merchandising: Highlight top-rated items and adjust discount rules for dependent products.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606747" y="5683910"/>
            <a:ext cx="2980944" cy="9144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4606747" y="5845759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DELIVERABLE</a:t>
            </a:r>
            <a:endParaRPr lang="en-US" sz="9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606747" y="6102706"/>
            <a:ext cx="133502" cy="1335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816145" y="6084418"/>
            <a:ext cx="1424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Pilot Campaigns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128102" y="2866644"/>
            <a:ext cx="3457346" cy="3638398"/>
          </a:xfrm>
          <a:prstGeom prst="roundRect">
            <a:avLst>
              <a:gd name="adj" fmla="val 87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8365846" y="3105302"/>
            <a:ext cx="16486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Scale &amp; Optimize</a:t>
            </a:r>
            <a:endParaRPr lang="en-US" sz="1500" dirty="0"/>
          </a:p>
        </p:txBody>
      </p:sp>
      <p:sp>
        <p:nvSpPr>
          <p:cNvPr id="45" name="Text 35"/>
          <p:cNvSpPr txBox="1"/>
          <p:nvPr/>
        </p:nvSpPr>
        <p:spPr>
          <a:xfrm>
            <a:off x="10570464" y="3143707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60–90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8365846" y="3457346"/>
            <a:ext cx="2395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strategy based on initial data.</a:t>
            </a:r>
            <a:endParaRPr lang="en-US" sz="10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8365846" y="3905402"/>
            <a:ext cx="105156" cy="1143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8585302" y="3877056"/>
            <a:ext cx="26051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Performance: Review cohort retention and subscription uptake rates.</a:t>
            </a:r>
            <a:endParaRPr lang="en-US" sz="10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8365846" y="4424782"/>
            <a:ext cx="105156" cy="114300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8585302" y="4395521"/>
            <a:ext cx="26435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Winning Plays: Roll out successful loyalty triggers to broader audience.</a:t>
            </a:r>
            <a:endParaRPr lang="en-US" sz="1000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8365846" y="4943246"/>
            <a:ext cx="105156" cy="114300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8585302" y="4914900"/>
            <a:ext cx="27102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Operationalize: Finalize automated Power BI dashboards for executive monitoring.</a:t>
            </a:r>
            <a:endParaRPr lang="en-US" sz="1000" dirty="0"/>
          </a:p>
        </p:txBody>
      </p:sp>
      <p:sp>
        <p:nvSpPr>
          <p:cNvPr id="53" name="Shape 40"/>
          <p:cNvSpPr/>
          <p:nvPr/>
        </p:nvSpPr>
        <p:spPr>
          <a:xfrm>
            <a:off x="8365846" y="5683910"/>
            <a:ext cx="2980944" cy="9144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8365846" y="5845759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DELIVERABLE</a:t>
            </a:r>
            <a:endParaRPr lang="en-US" sz="900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365846" y="6102706"/>
            <a:ext cx="133502" cy="133502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8575243" y="6084418"/>
            <a:ext cx="1519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Dashboard</a:t>
            </a:r>
            <a:endParaRPr lang="en-US" sz="1000" dirty="0"/>
          </a:p>
        </p:txBody>
      </p:sp>
      <p:sp>
        <p:nvSpPr>
          <p:cNvPr id="57" name="Text 43"/>
          <p:cNvSpPr txBox="1"/>
          <p:nvPr/>
        </p:nvSpPr>
        <p:spPr>
          <a:xfrm>
            <a:off x="609905" y="6476695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11205058" y="6476695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9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1371600" y="1837944"/>
            <a:ext cx="457200" cy="457200"/>
          </a:xfrm>
          <a:prstGeom prst="ellipse">
            <a:avLst/>
          </a:prstGeom>
          <a:solidFill>
            <a:srgbClr val="0F172A"/>
          </a:solidFill>
          <a:ln w="50800">
            <a:solidFill>
              <a:srgbClr val="3B82F6"/>
            </a:solidFill>
            <a:prstDash val="solid"/>
          </a:ln>
        </p:spPr>
      </p:sp>
      <p:sp>
        <p:nvSpPr>
          <p:cNvPr id="60" name="Text 46"/>
          <p:cNvSpPr txBox="1"/>
          <p:nvPr/>
        </p:nvSpPr>
        <p:spPr>
          <a:xfrm>
            <a:off x="1567282" y="1952244"/>
            <a:ext cx="195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61" name="Shape 47"/>
          <p:cNvSpPr/>
          <p:nvPr/>
        </p:nvSpPr>
        <p:spPr>
          <a:xfrm>
            <a:off x="5790895" y="1837944"/>
            <a:ext cx="457200" cy="457200"/>
          </a:xfrm>
          <a:prstGeom prst="ellipse">
            <a:avLst/>
          </a:prstGeom>
          <a:solidFill>
            <a:srgbClr val="0F172A"/>
          </a:solidFill>
          <a:ln w="50800">
            <a:solidFill>
              <a:srgbClr val="6366F1"/>
            </a:solidFill>
            <a:prstDash val="solid"/>
          </a:ln>
        </p:spPr>
      </p:sp>
      <p:sp>
        <p:nvSpPr>
          <p:cNvPr id="62" name="Text 48"/>
          <p:cNvSpPr txBox="1"/>
          <p:nvPr/>
        </p:nvSpPr>
        <p:spPr>
          <a:xfrm>
            <a:off x="5973775" y="1952244"/>
            <a:ext cx="224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63" name="Shape 49"/>
          <p:cNvSpPr/>
          <p:nvPr/>
        </p:nvSpPr>
        <p:spPr>
          <a:xfrm>
            <a:off x="10286086" y="1837944"/>
            <a:ext cx="457200" cy="457200"/>
          </a:xfrm>
          <a:prstGeom prst="ellipse">
            <a:avLst/>
          </a:prstGeom>
          <a:solidFill>
            <a:srgbClr val="0F172A"/>
          </a:solidFill>
          <a:ln w="50800">
            <a:solidFill>
              <a:srgbClr val="E5E7EB"/>
            </a:solidFill>
            <a:prstDash val="solid"/>
          </a:ln>
        </p:spPr>
      </p:sp>
      <p:sp>
        <p:nvSpPr>
          <p:cNvPr id="64" name="Text 50"/>
          <p:cNvSpPr txBox="1"/>
          <p:nvPr/>
        </p:nvSpPr>
        <p:spPr>
          <a:xfrm>
            <a:off x="10472623" y="1952244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2025-12-26T02:41:58Z</dcterms:created>
  <dcterms:modified xsi:type="dcterms:W3CDTF">2025-12-26T02:41:58Z</dcterms:modified>
</cp:coreProperties>
</file>